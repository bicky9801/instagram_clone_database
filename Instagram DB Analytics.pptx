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screen4x3"/>
  <p:notesSz cx="6858000" cy="9144000"/>
  <p:embeddedFontLs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888110"/>
            <a:ext cx="1019175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81175" y="4888110"/>
            <a:ext cx="146685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4888110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74465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645890"/>
            <a:ext cx="10120312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RELATIONAL DATABASE ENGINEERING</a:t>
            </a:r>
            <a:endParaRPr sz="1200" b="1" i="0" u="none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998315"/>
            <a:ext cx="8601075" cy="1725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Instagram </a:t>
            </a:r>
            <a:r>
              <a:rPr lang="en-IN" sz="3900" b="1" i="0" u="none">
                <a:solidFill>
                  <a:srgbClr val="F8FAFC"/>
                </a:solidFill>
                <a:latin typeface="Plus Jakarta Sans"/>
              </a:rPr>
              <a:t>clone </a:t>
            </a:r>
            <a:r>
              <a:rPr sz="3900" b="1" i="0" u="none">
                <a:solidFill>
                  <a:srgbClr val="F8FAFC"/>
                </a:solidFill>
                <a:latin typeface="Plus Jakarta Sans"/>
              </a:rPr>
              <a:t>DB Case Study: Advanced SQL Analytics &amp; Growth Insights</a:t>
            </a:r>
            <a:endParaRPr sz="390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3935610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Solving key business challenges using MySQL: user retention, campaign scheduling, bot detection, and hashtag performance.</a:t>
            </a:r>
            <a:endParaRPr sz="15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4964310"/>
            <a:ext cx="809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MySQL 8.0</a:t>
            </a:r>
            <a:endParaRPr sz="1050" b="1" i="0" u="none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33575" y="4964310"/>
            <a:ext cx="1257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2E8F0"/>
                </a:solidFill>
                <a:latin typeface="Plus Jakarta Sans"/>
              </a:rPr>
              <a:t>7 Core Data Tables</a:t>
            </a:r>
            <a:endParaRPr sz="1050" b="1" i="0" u="none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52825" y="4964310"/>
            <a:ext cx="1885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2E8F0"/>
                </a:solidFill>
                <a:latin typeface="Plus Jakarta Sans"/>
              </a:rPr>
              <a:t>Production-Ready Analytics</a:t>
            </a:r>
            <a:endParaRPr sz="1050" b="1" i="0" u="none">
              <a:solidFill>
                <a:srgbClr val="E2E8F0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9887"/>
            <a:ext cx="3505200" cy="1952625"/>
          </a:xfrm>
          <a:prstGeom prst="roundRect">
            <a:avLst>
              <a:gd name="adj" fmla="val 58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241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241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3176587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3290887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329088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DATA MODEL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Instagram Relational Schema Architecture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359568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Users &amp; Follows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3910012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Self-referential junction table mapping multi-user follower/followee relationships.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0100" y="370998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Photos &amp; Likes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0100" y="4024312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One-to-many user photos paired with composite primary key likes table.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43900" y="3709987"/>
            <a:ext cx="38481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Comments &amp; Tags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43900" y="4024312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Threaded user comment logs and many-to-many photo tag categorization.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1750"/>
            <a:ext cx="6553200" cy="25527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0" y="2762250"/>
            <a:ext cx="3962400" cy="12573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0" y="4210050"/>
            <a:ext cx="3962400" cy="72390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0" y="2762250"/>
            <a:ext cx="38100" cy="1257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114675"/>
            <a:ext cx="594360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638550"/>
            <a:ext cx="594360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4162425"/>
            <a:ext cx="594360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686300"/>
            <a:ext cx="5943600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114675"/>
            <a:ext cx="5943600" cy="133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638550"/>
            <a:ext cx="5943600" cy="133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162425"/>
            <a:ext cx="5569148" cy="1333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686300"/>
            <a:ext cx="5200650" cy="1333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MARKETING STRATEGY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Optimal Days for Ad Campaign Scheduling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48600" y="2952750"/>
            <a:ext cx="4343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Peak Days Identified</a:t>
            </a:r>
            <a:endParaRPr sz="1350" b="1" i="0" u="none">
              <a:solidFill>
                <a:srgbClr val="0369A1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48600" y="3228975"/>
            <a:ext cx="3638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0C4A6E"/>
                </a:solidFill>
                <a:latin typeface="Plus Jakarta Sans"/>
              </a:rPr>
              <a:t>Thursday and Sunday lead platform acquisition. Launching ad campaigns on these days maximizes conversion rates.</a:t>
            </a:r>
            <a:endParaRPr sz="1125" b="0" i="0" u="none">
              <a:solidFill>
                <a:srgbClr val="0C4A6E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10500" y="4400550"/>
            <a:ext cx="3676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JetBrains Mono"/>
              </a:rPr>
              <a:t>SELECT DAYNAME(created_at), COUNT(*) FROM users GROUP BY 1 ORDER BY 2 DESC;</a:t>
            </a:r>
            <a:endParaRPr sz="1050" b="0" i="0" u="none">
              <a:solidFill>
                <a:srgbClr val="334155"/>
              </a:solidFill>
              <a:latin typeface="JetBrains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2876550"/>
            <a:ext cx="9239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Thursday</a:t>
            </a:r>
            <a:endParaRPr sz="112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53100" y="2876550"/>
            <a:ext cx="1390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16 Registrations</a:t>
            </a:r>
            <a:endParaRPr sz="1125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400425"/>
            <a:ext cx="819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Sunday</a:t>
            </a:r>
            <a:endParaRPr sz="112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53100" y="3400425"/>
            <a:ext cx="1390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16 Registrations</a:t>
            </a:r>
            <a:endParaRPr sz="1125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3924300"/>
            <a:ext cx="723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Friday</a:t>
            </a:r>
            <a:endParaRPr sz="112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53100" y="3924300"/>
            <a:ext cx="13906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15 Registrations</a:t>
            </a:r>
            <a:endParaRPr sz="1125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448175"/>
            <a:ext cx="8667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Tuesday</a:t>
            </a:r>
            <a:endParaRPr sz="1125" b="1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43575" y="4448175"/>
            <a:ext cx="14001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14 Registrations</a:t>
            </a:r>
            <a:endParaRPr sz="1125" b="1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28850"/>
            <a:ext cx="5164335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16835" y="2571750"/>
            <a:ext cx="5465564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16835" y="3924300"/>
            <a:ext cx="5465564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5285" y="3124200"/>
            <a:ext cx="1409700" cy="200025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4960" y="2847975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960" y="4200525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USER RETENTION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Targeting Inactive Users for Re-engagement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062287"/>
            <a:ext cx="569341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400" b="1" i="0" u="none">
                <a:solidFill>
                  <a:srgbClr val="0284C7"/>
                </a:solidFill>
                <a:latin typeface="Plus Jakarta Sans"/>
              </a:rPr>
              <a:t>26%</a:t>
            </a:r>
            <a:endParaRPr sz="540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862387"/>
            <a:ext cx="569341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Zero-Post Accounts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176712"/>
            <a:ext cx="46499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Users registered who have never uploaded a photo to the platform.</a:t>
            </a:r>
            <a:endParaRPr sz="120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4960" y="2809875"/>
            <a:ext cx="5837039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LEFT JOIN Filtering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4960" y="3105150"/>
            <a:ext cx="5084564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Isolated non-active users by querying across user records.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4960" y="4162425"/>
            <a:ext cx="5837039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Email Campaigns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4960" y="4457700"/>
            <a:ext cx="5084564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Triggers personalized re-engagement emails with onboarding prompts and trending tags.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12435" y="3143250"/>
            <a:ext cx="16478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475569"/>
                </a:solidFill>
                <a:latin typeface="JetBrains Mono"/>
              </a:rPr>
              <a:t>photos.id IS NULL</a:t>
            </a:r>
            <a:endParaRPr sz="975" b="0" i="0" u="none">
              <a:solidFill>
                <a:srgbClr val="475569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76975" y="2513707"/>
            <a:ext cx="5305425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4485382"/>
            <a:ext cx="5305425" cy="697110"/>
          </a:xfrm>
          <a:prstGeom prst="roundRect">
            <a:avLst>
              <a:gd name="adj" fmla="val 1093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28850"/>
            <a:ext cx="5324475" cy="3238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238375"/>
            <a:ext cx="5305425" cy="3219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4675882"/>
            <a:ext cx="15240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CONTEST ANALYTICS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Contest Winner: Most Liked Photo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43675" y="2780407"/>
            <a:ext cx="56483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Winning Creator</a:t>
            </a:r>
            <a:endParaRPr sz="105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43675" y="2989957"/>
            <a:ext cx="564832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@Zack_Kemmer93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8900" y="4647307"/>
            <a:ext cx="5076825" cy="37326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66534"/>
                </a:solidFill>
                <a:latin typeface="Plus Jakarta Sans"/>
              </a:rPr>
              <a:t>High engagement concentration driven by early platform activity and viral hashtag association.</a:t>
            </a:r>
            <a:endParaRPr sz="1050" b="0" i="0" u="none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43675" y="3475732"/>
            <a:ext cx="9239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284C7"/>
                </a:solidFill>
                <a:latin typeface="Plus Jakarta Sans"/>
              </a:rPr>
              <a:t>48</a:t>
            </a:r>
            <a:endParaRPr sz="270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43675" y="3856732"/>
            <a:ext cx="9239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Total Likes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10450" y="3475732"/>
            <a:ext cx="11906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#145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10450" y="3856732"/>
            <a:ext cx="1190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Photo ID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337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33712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PLATFORM METRICS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Overall User Engagement Statistics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2450" y="3252787"/>
            <a:ext cx="3619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Plus Jakarta Sans"/>
              </a:rPr>
              <a:t>2.57</a:t>
            </a:r>
            <a:endParaRPr sz="420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2450" y="3900487"/>
            <a:ext cx="3619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Avg Posts / User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2450" y="4176712"/>
            <a:ext cx="3619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Calculated across total platform photos vs total accounts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6250" y="3338512"/>
            <a:ext cx="3619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F172A"/>
                </a:solidFill>
                <a:latin typeface="Plus Jakarta Sans"/>
              </a:rPr>
              <a:t>74</a:t>
            </a:r>
            <a:endParaRPr sz="4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6250" y="3986212"/>
            <a:ext cx="3619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Active Content Creators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6250" y="4262437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Users with at least one published photo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20050" y="3338512"/>
            <a:ext cx="361950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Plus Jakarta Sans"/>
              </a:rPr>
              <a:t>257</a:t>
            </a:r>
            <a:endParaRPr sz="420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20050" y="3986212"/>
            <a:ext cx="3619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Total Photos Uploaded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20050" y="4262437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Total media content stored on system servers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10400" y="3000375"/>
            <a:ext cx="4572000" cy="1733550"/>
          </a:xfrm>
          <a:prstGeom prst="roundRect">
            <a:avLst>
              <a:gd name="adj" fmla="val 659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28862"/>
            <a:ext cx="60579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67037"/>
            <a:ext cx="60579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605212"/>
            <a:ext cx="60579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243387"/>
            <a:ext cx="60579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881562"/>
            <a:ext cx="605790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100" y="3267075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BRAND COLLABORATION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Top 5 Most Commonly Used Hashtags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7100" y="3724275"/>
            <a:ext cx="49149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Brand Takeaways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7100" y="4038600"/>
            <a:ext cx="4133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Lifestyle and positivity hashtags dominant platform trends. Recommended for corporate sponsor placement.</a:t>
            </a:r>
            <a:endParaRPr sz="1125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" y="2481262"/>
            <a:ext cx="8858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#smile</a:t>
            </a:r>
            <a:endParaRPr sz="13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24550" y="2490787"/>
            <a:ext cx="838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59 uses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" y="3119437"/>
            <a:ext cx="9620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#beach</a:t>
            </a:r>
            <a:endParaRPr sz="13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24550" y="3128962"/>
            <a:ext cx="838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42 uses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" y="3757612"/>
            <a:ext cx="8858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#party</a:t>
            </a:r>
            <a:endParaRPr sz="13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24550" y="3767137"/>
            <a:ext cx="838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39 uses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" y="4395787"/>
            <a:ext cx="714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#fun</a:t>
            </a:r>
            <a:endParaRPr sz="13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24550" y="4405312"/>
            <a:ext cx="838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38 uses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" y="5033962"/>
            <a:ext cx="1104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#concert</a:t>
            </a:r>
            <a:endParaRPr sz="13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4550" y="5043487"/>
            <a:ext cx="838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24 uses</a:t>
            </a:r>
            <a:endParaRPr sz="12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24100"/>
            <a:ext cx="5192017" cy="3048000"/>
          </a:xfrm>
          <a:prstGeom prst="roundRect">
            <a:avLst>
              <a:gd name="adj" fmla="val 375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06417" y="2609850"/>
            <a:ext cx="5475982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06417" y="3924300"/>
            <a:ext cx="5475982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5017" y="3133725"/>
            <a:ext cx="4600575" cy="414337"/>
          </a:xfrm>
          <a:prstGeom prst="roundRect">
            <a:avLst>
              <a:gd name="adj" fmla="val 9195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PLATFORM INTEGRITY</a:t>
            </a:r>
            <a:endParaRPr sz="1050" b="1" i="0" u="none">
              <a:solidFill>
                <a:srgbClr val="DC2626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Bot Detection: Identifying Automated Spam Accounts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3925" y="3138487"/>
            <a:ext cx="570420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DC2626"/>
                </a:solidFill>
                <a:latin typeface="Plus Jakarta Sans"/>
              </a:rPr>
              <a:t>13 Accounts</a:t>
            </a:r>
            <a:endParaRPr sz="4800" b="1" i="0" u="none">
              <a:solidFill>
                <a:srgbClr val="DC2626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3925" y="3862387"/>
            <a:ext cx="57042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Liked 100% of All Photos</a:t>
            </a:r>
            <a:endParaRPr sz="1350" b="1" i="0" u="none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4157662"/>
            <a:ext cx="465861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7F1D1D"/>
                </a:solidFill>
                <a:latin typeface="Plus Jakarta Sans"/>
              </a:rPr>
              <a:t>Anomalous behavior: total likes equal total photo count (257 likes per bot).</a:t>
            </a:r>
            <a:endParaRPr sz="1125" b="0" i="0" u="none">
              <a:solidFill>
                <a:srgbClr val="7F1D1D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35017" y="2838450"/>
            <a:ext cx="58569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HAVING Clause Filter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35017" y="3114675"/>
            <a:ext cx="511403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Isolated bots using 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35017" y="4152900"/>
            <a:ext cx="58569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Security Impact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5017" y="4429125"/>
            <a:ext cx="511403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Removing these 13 accounts cleanses artificial engagement metrics and protects advertiser trust.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92167" y="3152775"/>
            <a:ext cx="4581525" cy="376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475569"/>
                </a:solidFill>
                <a:latin typeface="JetBrains Mono"/>
              </a:rPr>
              <a:t>HAVING total_likes = (SELECT COUNT(*) FROM photos)</a:t>
            </a:r>
            <a:endParaRPr sz="975" b="0" i="0" u="none">
              <a:solidFill>
                <a:srgbClr val="475569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4162"/>
            <a:ext cx="537210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24175"/>
            <a:ext cx="53721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USER BEHAVIOR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User Archetype Breakdown: Active vs Lurker Accounts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6300" y="3090862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ARCHETYPE A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6300" y="3338512"/>
            <a:ext cx="635079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Ghost Users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3700462"/>
            <a:ext cx="60483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64748B"/>
                </a:solidFill>
                <a:latin typeface="Plus Jakarta Sans"/>
              </a:rPr>
              <a:t>23%</a:t>
            </a:r>
            <a:endParaRPr sz="270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4243387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Users who have never submitted a single comment on any platform photo.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7000" y="3190875"/>
            <a:ext cx="571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ARCHETYPE B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7000" y="3438525"/>
            <a:ext cx="571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Engaged Commenters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7000" y="3800475"/>
            <a:ext cx="5715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Plus Jakarta Sans"/>
              </a:rPr>
              <a:t>77%</a:t>
            </a:r>
            <a:endParaRPr sz="270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7000" y="4343400"/>
            <a:ext cx="571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Users actively commenting and engaging with community posts.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90887"/>
            <a:ext cx="35052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90887"/>
            <a:ext cx="35052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90887"/>
            <a:ext cx="35052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ACTIONABLE ROADMAP</a:t>
            </a:r>
            <a:endParaRPr sz="1050" b="1" i="0" u="none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Data-Driven Growth &amp; Security Roadmap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3519487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Schedule Optimization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3814762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Concentrate paid acquisition campaigns on Thursdays and Sundays.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3519487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Bot Purge Workflow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3814762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Automate SQL triggers to flag users with 100% like rates.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05800" y="3519487"/>
            <a:ext cx="388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Nudge Campaigns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05800" y="3814762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Deploy email prompts to 26% of accounts with zero photo posts.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14725" y="4310062"/>
            <a:ext cx="5162550" cy="4286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975" y="2119312"/>
            <a:ext cx="40005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20453" y="2805112"/>
            <a:ext cx="8751093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8FAFC"/>
                </a:solidFill>
                <a:latin typeface="Plus Jakarta Sans"/>
              </a:rPr>
              <a:t>SQL Analytics Completed</a:t>
            </a:r>
            <a:endParaRPr sz="330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8812" y="3490912"/>
            <a:ext cx="8334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Leveraging database architecture and analytical queries to drive product growth, platform security, and business intelligence.</a:t>
            </a:r>
            <a:endParaRPr sz="135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8006" y="4424362"/>
            <a:ext cx="59959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Connect on LinkedIn for More SQL &amp; Data Engineering Case Studies</a:t>
            </a:r>
            <a:endParaRPr sz="1125" b="1" i="0" u="none">
              <a:solidFill>
                <a:srgbClr val="F8FAFC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3121</Words>
  <Application>WPS Presentation</Application>
  <PresentationFormat>On-screen Show (4:3)</PresentationFormat>
  <Paragraphs>204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Plus Jakarta Sans</vt:lpstr>
      <vt:lpstr>Segoe Print</vt:lpstr>
      <vt:lpstr>JetBrains Mono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Bicky Kumar</cp:lastModifiedBy>
  <cp:revision>3</cp:revision>
  <dcterms:created xsi:type="dcterms:W3CDTF">2013-01-27T09:14:00Z</dcterms:created>
  <dcterms:modified xsi:type="dcterms:W3CDTF">2026-10-03T20:26:35Z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D4AC120C26A14388AEADFA8EFBBA6EE7_12</vt:lpwstr>
  </property>
  <property fmtid="{D5CDD505-2E9C-101B-9397-08002B2CF9AE}" pid="3" name="KSOProductBuildVer">
    <vt:lpwstr>1033-12.1.0.28485</vt:lpwstr>
  </property>
</Properties>
</file>